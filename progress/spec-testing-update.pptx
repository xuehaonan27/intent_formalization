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 i="0">
                <a:solidFill>
                  <a:srgbClr val="007A6D"/>
                </a:solidFill>
              </a:defRPr>
            </a:pPr>
            <a:r>
              <a:t>Specification Completeness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1">
                <a:solidFill>
                  <a:srgbClr val="666666"/>
                </a:solidFill>
              </a:defRPr>
            </a:pPr>
            <a:r>
              <a:t>Tianyu Chen ·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30568"/>
            <a:ext cx="12191695" cy="27432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Problem: Verified Code ≠ Complete 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Bitmap::new()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2249424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754880" cy="20665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dirty="0"/>
              <a:t>pub </a:t>
            </a:r>
            <a:r>
              <a:rPr dirty="0" err="1"/>
              <a:t>fn</a:t>
            </a:r>
            <a:r>
              <a:rPr dirty="0"/>
              <a:t> new(</a:t>
            </a:r>
            <a:r>
              <a:rPr dirty="0" err="1"/>
              <a:t>number_of_bits</a:t>
            </a:r>
            <a:r>
              <a:rPr dirty="0"/>
              <a:t>: </a:t>
            </a:r>
            <a:r>
              <a:rPr dirty="0" err="1"/>
              <a:t>usize</a:t>
            </a:r>
            <a:r>
              <a:rPr dirty="0"/>
              <a:t>)</a:t>
            </a:r>
            <a:br>
              <a:rPr dirty="0"/>
            </a:br>
            <a:r>
              <a:rPr dirty="0"/>
              <a:t>  -&gt; Result&lt;Bitmap, Error&gt;</a:t>
            </a:r>
            <a:br>
              <a:rPr dirty="0"/>
            </a:br>
            <a:r>
              <a:rPr dirty="0"/>
              <a:t>// no requires</a:t>
            </a:r>
            <a:br>
              <a:rPr dirty="0"/>
            </a:br>
            <a:r>
              <a:rPr dirty="0"/>
              <a:t>ensures</a:t>
            </a:r>
            <a:br>
              <a:rPr dirty="0"/>
            </a:br>
            <a:r>
              <a:rPr dirty="0"/>
              <a:t>  Ok(bitmap) ==&gt; {</a:t>
            </a:r>
            <a:br>
              <a:rPr dirty="0"/>
            </a:br>
            <a:r>
              <a:rPr dirty="0"/>
              <a:t>    </a:t>
            </a:r>
            <a:r>
              <a:rPr dirty="0" err="1"/>
              <a:t>bitmap.inv</a:t>
            </a:r>
            <a:r>
              <a:rPr dirty="0"/>
              <a:t>()</a:t>
            </a:r>
            <a:br>
              <a:rPr dirty="0"/>
            </a:br>
            <a:r>
              <a:rPr dirty="0"/>
              <a:t>    bitmap@.</a:t>
            </a:r>
            <a:r>
              <a:rPr dirty="0" err="1"/>
              <a:t>num_bits</a:t>
            </a:r>
            <a:r>
              <a:rPr dirty="0"/>
              <a:t> == </a:t>
            </a:r>
            <a:r>
              <a:rPr dirty="0" err="1"/>
              <a:t>number_of_bits</a:t>
            </a:r>
            <a:br>
              <a:rPr dirty="0"/>
            </a:br>
            <a:r>
              <a:rPr dirty="0"/>
              <a:t>    bitmap@.</a:t>
            </a:r>
            <a:r>
              <a:rPr dirty="0" err="1"/>
              <a:t>is_empty</a:t>
            </a:r>
            <a:r>
              <a:rPr dirty="0"/>
              <a:t>()</a:t>
            </a:r>
            <a:br>
              <a:rPr dirty="0"/>
            </a:br>
            <a:r>
              <a:rPr dirty="0"/>
              <a:t>  },</a:t>
            </a:r>
            <a:br>
              <a:rPr dirty="0"/>
            </a:br>
            <a:r>
              <a:rPr dirty="0"/>
              <a:t>  </a:t>
            </a:r>
            <a:r>
              <a:rPr dirty="0" err="1"/>
              <a:t>number_of_bits</a:t>
            </a:r>
            <a:r>
              <a:rPr dirty="0"/>
              <a:t> == 0 ==&gt; Err,</a:t>
            </a:r>
            <a:br>
              <a:rPr dirty="0"/>
            </a:br>
            <a:r>
              <a:rPr dirty="0"/>
              <a:t>  </a:t>
            </a:r>
            <a:r>
              <a:rPr dirty="0" err="1"/>
              <a:t>number_of_bits</a:t>
            </a:r>
            <a:r>
              <a:rPr dirty="0"/>
              <a:t> &gt;= u32::MAX ==&gt; Err,</a:t>
            </a:r>
            <a:br>
              <a:rPr dirty="0"/>
            </a:br>
            <a:r>
              <a:rPr dirty="0"/>
              <a:t>  </a:t>
            </a:r>
            <a:r>
              <a:rPr dirty="0" err="1"/>
              <a:t>number_of_bits</a:t>
            </a:r>
            <a:r>
              <a:rPr dirty="0"/>
              <a:t> % 8 != 0 ==&gt; Err,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Entailment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2414015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754880" cy="223113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t>proof fn phi_new_always_err(</a:t>
            </a:r>
            <a:br/>
            <a:r>
              <a:t>  number_of_bits: usize,</a:t>
            </a:r>
            <a:br/>
            <a:r>
              <a:t>  result: Result&lt;Bitmap, Error&gt;</a:t>
            </a:r>
            <a:br/>
            <a:r>
              <a:t>) // requires + ensures = exact spec</a:t>
            </a:r>
            <a:br/>
            <a:r>
              <a:t>{</a:t>
            </a:r>
            <a:br/>
            <a:r>
              <a:t>  // valid input: nonzero, &lt; u32::MAX,</a:t>
            </a:r>
            <a:br/>
            <a:r>
              <a:t>  // multiple of 8, plenty of space</a:t>
            </a:r>
            <a:br/>
            <a:r>
              <a:t>  assume(number_of_bits == 64);</a:t>
            </a:r>
            <a:br/>
            <a:r>
              <a:t>  // bad scenario: Err despite valid</a:t>
            </a:r>
            <a:br/>
            <a:r>
              <a:t>  assume(result is Err);</a:t>
            </a:r>
            <a:br/>
            <a:r>
              <a:t>}</a:t>
            </a:r>
            <a:br/>
            <a:r>
              <a:t>// Verus: VERIFIED -&gt; gap confirmed</a:t>
            </a:r>
            <a:br/>
            <a:r>
              <a:t>// An always-Err impl satisfies spec!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1">
                <a:solidFill>
                  <a:srgbClr val="007A6D"/>
                </a:solidFill>
              </a:defRPr>
            </a:pPr>
            <a:r>
              <a:rPr dirty="0"/>
              <a:t>Spec says when to fail, but never guarantees success. A trivial always-Err </a:t>
            </a:r>
            <a:r>
              <a:rPr dirty="0" err="1"/>
              <a:t>impl</a:t>
            </a:r>
            <a:r>
              <a:rPr dirty="0"/>
              <a:t> satisfies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Five-Step Spec Testing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1">
                <a:solidFill>
                  <a:srgbClr val="007A6D"/>
                </a:solidFill>
              </a:defRPr>
            </a:pPr>
            <a:r>
              <a:t>Automated spec gap discovery for Verus-verified 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841248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93268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12264"/>
            <a:ext cx="9326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Use tree-sitter to extract function signatures with requires/ensures from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24328"/>
            <a:ext cx="10515600" cy="841248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93268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Brainstorm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90672"/>
            <a:ext cx="9326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Generate negative properties in 6 categories: behavioral, boundary, logical, forward-progress, maximality, completeness.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02736"/>
            <a:ext cx="10515600" cy="841248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3739896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675888"/>
            <a:ext cx="93268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Formalize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69080"/>
            <a:ext cx="9326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Build Verus proof fn: requires/ensures mechanically copied, bad property encoded as assume() in body.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81144"/>
            <a:ext cx="10515600" cy="841248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718304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54296"/>
            <a:ext cx="93268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Entailment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47488"/>
            <a:ext cx="9326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Run Verus. Verified = gap confirmed. Error = spec rejects bad scenario.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59552"/>
            <a:ext cx="10515600" cy="841248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696712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632704"/>
            <a:ext cx="932688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Critic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6025896"/>
            <a:ext cx="93268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Filter FPs: tautology check (strip spec + re-verify) then LLM adversarial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Enhancement: Agentic Reasoning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1">
                <a:solidFill>
                  <a:srgbClr val="007A6D"/>
                </a:solidFill>
              </a:defRPr>
            </a:pPr>
            <a:r>
              <a:t>Four roles with structured adversarial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08585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Alpha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9326880" cy="5429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Meta-Prompter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34564"/>
            <a:ext cx="9326880" cy="45148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Analyzes the spec structure before brainstorming begins. Identifies which functions are high-risk, what the invariant covers and doesn't cover, and which categories to prioritize.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68930"/>
            <a:ext cx="10515600" cy="108585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006090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942082"/>
            <a:ext cx="9326880" cy="5429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Reasoner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57575"/>
            <a:ext cx="9326880" cy="45148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Generates negative property candidates guided by Alpha's strategy. Self-corrects weak candidates by flagging them as low-confidence before Gamma reviews.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91939"/>
            <a:ext cx="10515600" cy="108585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229100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65091"/>
            <a:ext cx="9326880" cy="5429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80584"/>
            <a:ext cx="9326880" cy="45148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Adversarially reviews every candidate. Reads the actual source code to check claims, uses counting arguments and invariant reasoning to kill false positives, and discovers gaps Beta missed.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14949"/>
            <a:ext cx="10515600" cy="1085850"/>
          </a:xfrm>
          <a:prstGeom prst="rect">
            <a:avLst/>
          </a:prstGeom>
          <a:solidFill>
            <a:srgbClr val="F2F2F7"/>
          </a:solidFill>
          <a:ln w="19050">
            <a:solidFill>
              <a:srgbClr val="26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5452109"/>
            <a:ext cx="822960" cy="274320"/>
          </a:xfrm>
          <a:prstGeom prst="rect">
            <a:avLst/>
          </a:prstGeom>
          <a:solidFill>
            <a:srgbClr val="26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88101"/>
            <a:ext cx="9326880" cy="5429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 i="0">
                <a:solidFill>
                  <a:srgbClr val="333333"/>
                </a:solidFill>
              </a:defRPr>
            </a:pPr>
            <a:r>
              <a:t>Arbitrator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903594"/>
            <a:ext cx="9326880" cy="45148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 i="0">
                <a:solidFill>
                  <a:srgbClr val="666666"/>
                </a:solidFill>
              </a:defRPr>
            </a:pPr>
            <a:r>
              <a:t>Coordinates the workflow: tracks which candidates are confirmed, pending, or killed, and decides when to move from brainstorm to formalization.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Experimental Results: 4 Nanvix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 i="1">
                <a:solidFill>
                  <a:srgbClr val="007A6D"/>
                </a:solidFill>
              </a:defRPr>
            </a:pPr>
            <a:r>
              <a:t>All phi tests verified by Verus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6D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6D"/>
                          </a:solidFill>
                        </a:rPr>
                        <a:t>Candidates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6D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6D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6D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Bitmap (8 fns)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Slab (3 fns)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SortedVec (14 fns)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Kheap (4 fns)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Total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119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12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0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100%</a:t>
                      </a:r>
                    </a:p>
                  </a:txBody>
                  <a:tcPr>
                    <a:solidFill>
                      <a:srgbClr val="E8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 i="0">
                <a:solidFill>
                  <a:srgbClr val="666666"/>
                </a:solidFill>
              </a:defRPr>
            </a:pPr>
            <a:r>
              <a:rPr dirty="0"/>
              <a:t>Baseline (</a:t>
            </a:r>
            <a:r>
              <a:t>without agentic</a:t>
            </a:r>
            <a:r>
              <a:rPr lang="en-US"/>
              <a:t>-</a:t>
            </a:r>
            <a:r>
              <a:rPr lang="en-US" altLang="zh-CN"/>
              <a:t>reasoning</a:t>
            </a:r>
            <a:r>
              <a:t>): </a:t>
            </a:r>
            <a:r>
              <a:rPr dirty="0"/>
              <a:t>10 TP, 2 FP, 83%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 i="0">
                <a:solidFill>
                  <a:srgbClr val="007A6D"/>
                </a:solidFill>
              </a:defRPr>
            </a:pPr>
            <a:r>
              <a:t>Agentic adds: +2 new true gaps, −2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1">
                <a:solidFill>
                  <a:srgbClr val="007A6D"/>
                </a:solidFill>
              </a:defRPr>
            </a:pPr>
            <a:r>
              <a:t>12 confirmed spec gaps across 4 modules, zero false positives after agentic enhancement.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Case Study: Slab — Missing Totality in inv()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SlabView::inv()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91488"/>
            <a:ext cx="5029200" cy="2249424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82928"/>
            <a:ext cx="4754880" cy="20665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dirty="0"/>
              <a:t>pub open spec </a:t>
            </a:r>
            <a:r>
              <a:rPr dirty="0" err="1"/>
              <a:t>fn</a:t>
            </a:r>
            <a:r>
              <a:rPr dirty="0"/>
              <a:t> inv(&amp;self) -&gt; bool {</a:t>
            </a:r>
            <a:br>
              <a:rPr dirty="0"/>
            </a:br>
            <a:r>
              <a:rPr dirty="0"/>
              <a:t>  </a:t>
            </a:r>
            <a:r>
              <a:rPr dirty="0" err="1"/>
              <a:t>self.block_size</a:t>
            </a:r>
            <a:r>
              <a:rPr dirty="0"/>
              <a:t> &gt; 0</a:t>
            </a:r>
            <a:br>
              <a:rPr dirty="0"/>
            </a:br>
            <a:r>
              <a:rPr dirty="0"/>
              <a:t>  </a:t>
            </a:r>
            <a:r>
              <a:rPr dirty="0" err="1"/>
              <a:t>self.start_addr</a:t>
            </a:r>
            <a:r>
              <a:rPr dirty="0"/>
              <a:t> % </a:t>
            </a:r>
            <a:r>
              <a:rPr dirty="0" err="1"/>
              <a:t>block_size</a:t>
            </a:r>
            <a:r>
              <a:rPr dirty="0"/>
              <a:t> == 0</a:t>
            </a:r>
            <a:br>
              <a:rPr dirty="0"/>
            </a:br>
            <a:r>
              <a:rPr dirty="0"/>
              <a:t>  </a:t>
            </a:r>
            <a:r>
              <a:rPr dirty="0" err="1"/>
              <a:t>self.end_addr</a:t>
            </a:r>
            <a:r>
              <a:rPr dirty="0"/>
              <a:t> % </a:t>
            </a:r>
            <a:r>
              <a:rPr dirty="0" err="1"/>
              <a:t>block_size</a:t>
            </a:r>
            <a:r>
              <a:rPr dirty="0"/>
              <a:t> == 0</a:t>
            </a:r>
            <a:br>
              <a:rPr dirty="0"/>
            </a:br>
            <a:r>
              <a:rPr dirty="0"/>
              <a:t>  </a:t>
            </a:r>
            <a:r>
              <a:rPr dirty="0" err="1"/>
              <a:t>self.end_addr</a:t>
            </a:r>
            <a:r>
              <a:rPr dirty="0"/>
              <a:t> &gt; </a:t>
            </a:r>
            <a:r>
              <a:rPr dirty="0" err="1"/>
              <a:t>self.start_addr</a:t>
            </a:r>
            <a:br>
              <a:rPr dirty="0"/>
            </a:br>
            <a:r>
              <a:rPr dirty="0"/>
              <a:t>  </a:t>
            </a:r>
            <a:r>
              <a:rPr dirty="0" err="1"/>
              <a:t>forall|i</a:t>
            </a:r>
            <a:r>
              <a:rPr dirty="0"/>
              <a:t>| </a:t>
            </a:r>
            <a:r>
              <a:rPr dirty="0" err="1"/>
              <a:t>allocated.contains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</a:t>
            </a:r>
            <a:br>
              <a:rPr dirty="0"/>
            </a:br>
            <a:r>
              <a:rPr dirty="0"/>
              <a:t>    ==&gt; </a:t>
            </a:r>
            <a:r>
              <a:rPr dirty="0" err="1"/>
              <a:t>in_range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 &amp;&amp; aligned(</a:t>
            </a:r>
            <a:r>
              <a:rPr dirty="0" err="1"/>
              <a:t>i</a:t>
            </a:r>
            <a:r>
              <a:rPr dirty="0"/>
              <a:t>)</a:t>
            </a:r>
            <a:br>
              <a:rPr dirty="0"/>
            </a:br>
            <a:r>
              <a:rPr dirty="0"/>
              <a:t>  </a:t>
            </a:r>
            <a:r>
              <a:rPr dirty="0" err="1"/>
              <a:t>forall|i</a:t>
            </a:r>
            <a:r>
              <a:rPr dirty="0"/>
              <a:t>| </a:t>
            </a:r>
            <a:r>
              <a:rPr dirty="0" err="1"/>
              <a:t>free.contains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</a:t>
            </a:r>
            <a:br>
              <a:rPr dirty="0"/>
            </a:br>
            <a:r>
              <a:rPr dirty="0"/>
              <a:t>    ==&gt; </a:t>
            </a:r>
            <a:r>
              <a:rPr dirty="0" err="1"/>
              <a:t>in_range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) &amp;&amp; aligned(</a:t>
            </a:r>
            <a:r>
              <a:rPr dirty="0" err="1"/>
              <a:t>i</a:t>
            </a:r>
            <a:r>
              <a:rPr dirty="0"/>
              <a:t>)</a:t>
            </a:r>
            <a:br>
              <a:rPr dirty="0"/>
            </a:br>
            <a:r>
              <a:rPr dirty="0"/>
              <a:t>  </a:t>
            </a:r>
            <a:r>
              <a:rPr dirty="0" err="1"/>
              <a:t>allocated.disjoint</a:t>
            </a:r>
            <a:r>
              <a:rPr dirty="0"/>
              <a:t>(free)</a:t>
            </a:r>
            <a:br>
              <a:rPr dirty="0"/>
            </a:br>
            <a:r>
              <a:rPr dirty="0"/>
              <a:t>  // Missing: free U </a:t>
            </a:r>
            <a:r>
              <a:rPr dirty="0" err="1"/>
              <a:t>alloc</a:t>
            </a:r>
            <a:r>
              <a:rPr dirty="0"/>
              <a:t> = all blocks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Entailment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3072384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754880" cy="288950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t>proof fn phi_empty_free(</a:t>
            </a:r>
            <a:br/>
            <a:r>
              <a:t>  pre: Slab,</a:t>
            </a:r>
            <a:br/>
            <a:r>
              <a:t>  result: Result&lt;Slab, Error&gt;</a:t>
            </a:r>
            <a:br/>
            <a:r>
              <a:t>) // spec = from_raw_parts ensures</a:t>
            </a:r>
            <a:br/>
            <a:r>
              <a:t>{</a:t>
            </a:r>
            <a:br/>
            <a:r>
              <a:t>  assume(addr as usize == 0x1000);</a:t>
            </a:r>
            <a:br/>
            <a:r>
              <a:t>  assume(len == 4096usize);</a:t>
            </a:r>
            <a:br/>
            <a:r>
              <a:t>  assume(block_size == 64usize);</a:t>
            </a:r>
            <a:br/>
            <a:r>
              <a:t>  assume(result is Ok);</a:t>
            </a:r>
            <a:br/>
            <a:r>
              <a:t>  assume(slab@.block_size == 64);</a:t>
            </a:r>
            <a:br/>
            <a:r>
              <a:t>  assume(slab@.start_addr == 0x1000);</a:t>
            </a:r>
            <a:br/>
            <a:r>
              <a:t>  assume(slab@.end_addr == 0x2000);</a:t>
            </a:r>
            <a:br/>
            <a:r>
              <a:t>  assume(slab@.allocated == empty());</a:t>
            </a:r>
            <a:br/>
            <a:r>
              <a:t>  assume(slab@.free == empty());</a:t>
            </a:r>
            <a:br/>
            <a:r>
              <a:t>  // 4KB region, 0 free blocks!</a:t>
            </a:r>
            <a:br/>
            <a:r>
              <a:t>}</a:t>
            </a:r>
            <a:br/>
            <a:r>
              <a:t>// Verus: VERIFIED -&gt; gap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37606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1">
                <a:solidFill>
                  <a:srgbClr val="007A6D"/>
                </a:solidFill>
              </a:defRPr>
            </a:pPr>
            <a:r>
              <a:t>4096-byte slab with 64-byte blocks allows ZERO free blocks. Root cause of 4/6 slab gaps.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BEA64-6AB1-CC8D-480D-FF7B5CB7737D}"/>
              </a:ext>
            </a:extLst>
          </p:cNvPr>
          <p:cNvSpPr/>
          <p:nvPr/>
        </p:nvSpPr>
        <p:spPr>
          <a:xfrm>
            <a:off x="548640" y="3730571"/>
            <a:ext cx="5029200" cy="3242980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8D843-78F7-B343-2935-E90D60C87122}"/>
              </a:ext>
            </a:extLst>
          </p:cNvPr>
          <p:cNvSpPr txBox="1"/>
          <p:nvPr/>
        </p:nvSpPr>
        <p:spPr>
          <a:xfrm>
            <a:off x="685800" y="3822011"/>
            <a:ext cx="4957618" cy="20665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#[verus_spec(result =&gt;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ensures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match result {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Ok(slab) =&gt; {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  &amp;&amp;&amp; </a:t>
            </a:r>
            <a:r>
              <a:rPr lang="en-US" dirty="0" err="1"/>
              <a:t>slab.inv</a:t>
            </a:r>
            <a:r>
              <a:rPr lang="en-US" dirty="0"/>
              <a:t>()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  &amp;&amp;&amp; slab@.</a:t>
            </a:r>
            <a:r>
              <a:rPr lang="en-US" dirty="0" err="1"/>
              <a:t>block_size</a:t>
            </a:r>
            <a:r>
              <a:rPr lang="en-US" dirty="0"/>
              <a:t> == </a:t>
            </a:r>
            <a:r>
              <a:rPr lang="en-US" dirty="0" err="1"/>
              <a:t>block_size</a:t>
            </a:r>
            <a:endParaRPr lang="en-US" dirty="0"/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  &amp;&amp;&amp; slab@.</a:t>
            </a:r>
            <a:r>
              <a:rPr lang="en-US" dirty="0" err="1"/>
              <a:t>start_addr</a:t>
            </a:r>
            <a:r>
              <a:rPr lang="en-US" dirty="0"/>
              <a:t> &gt;= </a:t>
            </a:r>
            <a:r>
              <a:rPr lang="en-US" dirty="0" err="1"/>
              <a:t>addr</a:t>
            </a:r>
            <a:r>
              <a:rPr lang="en-US" dirty="0"/>
              <a:t> as </a:t>
            </a:r>
            <a:r>
              <a:rPr lang="en-US" dirty="0" err="1"/>
              <a:t>usize</a:t>
            </a:r>
            <a:endParaRPr lang="en-US" dirty="0"/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  &amp;&amp;&amp; slab@.</a:t>
            </a:r>
            <a:r>
              <a:rPr lang="en-US" dirty="0" err="1"/>
              <a:t>end_addr</a:t>
            </a:r>
            <a:r>
              <a:rPr lang="en-US" dirty="0"/>
              <a:t> &lt;= </a:t>
            </a:r>
            <a:r>
              <a:rPr lang="en-US" dirty="0" err="1"/>
              <a:t>addr</a:t>
            </a:r>
            <a:r>
              <a:rPr lang="en-US" dirty="0"/>
              <a:t> as </a:t>
            </a:r>
            <a:r>
              <a:rPr lang="en-US" dirty="0" err="1"/>
              <a:t>usize</a:t>
            </a:r>
            <a:r>
              <a:rPr lang="en-US" dirty="0"/>
              <a:t> + </a:t>
            </a:r>
            <a:r>
              <a:rPr lang="en-US" dirty="0" err="1"/>
              <a:t>len</a:t>
            </a:r>
            <a:endParaRPr lang="en-US" dirty="0"/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  &amp;&amp;&amp; slab@.</a:t>
            </a:r>
            <a:r>
              <a:rPr lang="en-US" dirty="0" err="1"/>
              <a:t>allocated_addrs</a:t>
            </a:r>
            <a:r>
              <a:rPr lang="en-US" dirty="0"/>
              <a:t> == Set::&lt;</a:t>
            </a:r>
            <a:r>
              <a:rPr lang="en-US" dirty="0" err="1"/>
              <a:t>usize</a:t>
            </a:r>
            <a:r>
              <a:rPr lang="en-US" dirty="0"/>
              <a:t>&gt;::empty()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},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  Err(e) =&gt; </a:t>
            </a:r>
            <a:r>
              <a:rPr lang="en-US" dirty="0" err="1"/>
              <a:t>e.code</a:t>
            </a:r>
            <a:r>
              <a:rPr lang="en-US" dirty="0"/>
              <a:t> == </a:t>
            </a:r>
            <a:r>
              <a:rPr lang="en-US" dirty="0" err="1"/>
              <a:t>ErrorCode</a:t>
            </a:r>
            <a:r>
              <a:rPr lang="en-US" dirty="0"/>
              <a:t>::</a:t>
            </a:r>
            <a:r>
              <a:rPr lang="en-US" dirty="0" err="1"/>
              <a:t>InvalidArgument</a:t>
            </a:r>
            <a:r>
              <a:rPr lang="en-US" dirty="0"/>
              <a:t>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   },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)]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pub unsafe </a:t>
            </a:r>
            <a:r>
              <a:rPr lang="en-US" dirty="0" err="1"/>
              <a:t>fn</a:t>
            </a:r>
            <a:r>
              <a:rPr lang="en-US" dirty="0"/>
              <a:t> </a:t>
            </a:r>
            <a:r>
              <a:rPr lang="en-US" dirty="0" err="1"/>
              <a:t>from_raw_parts</a:t>
            </a:r>
            <a:r>
              <a:rPr lang="en-US" dirty="0"/>
              <a:t>(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lang="en-US" dirty="0" err="1"/>
              <a:t>addr</a:t>
            </a:r>
            <a:r>
              <a:rPr lang="en-US" dirty="0"/>
              <a:t>: *mut u8,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lang="en-US" dirty="0" err="1"/>
              <a:t>len</a:t>
            </a:r>
            <a:r>
              <a:rPr lang="en-US" dirty="0"/>
              <a:t>: </a:t>
            </a:r>
            <a:r>
              <a:rPr lang="en-US" dirty="0" err="1"/>
              <a:t>usize</a:t>
            </a:r>
            <a:r>
              <a:rPr lang="en-US" dirty="0"/>
              <a:t>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lang="en-US" dirty="0" err="1"/>
              <a:t>block_size</a:t>
            </a:r>
            <a:r>
              <a:rPr lang="en-US" dirty="0"/>
              <a:t>: </a:t>
            </a:r>
            <a:r>
              <a:rPr lang="en-US" dirty="0" err="1"/>
              <a:t>usize</a:t>
            </a:r>
            <a:r>
              <a:rPr lang="en-US" dirty="0"/>
              <a:t>,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rPr lang="en-US" dirty="0"/>
              <a:t>  ) -&gt; Result&lt;Slab, Error&gt; {}</a:t>
            </a:r>
          </a:p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Case Study: SortedVec — sv_eq ≠ Structural Equality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insert spec (key part)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2578608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754880" cy="239572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t>pub fn insert(&amp;mut self, value: T)</a:t>
            </a:r>
            <a:br/>
            <a:r>
              <a:t>  -&gt; (result: Option&lt;T&gt;)</a:t>
            </a:r>
            <a:br/>
            <a:r>
              <a:t>  requires old(self).inv()</a:t>
            </a:r>
            <a:br/>
            <a:r>
              <a:t>  ensures</a:t>
            </a:r>
            <a:br/>
            <a:r>
              <a:t>    self.inv(),</a:t>
            </a:r>
            <a:br/>
            <a:r>
              <a:t>    result.is_none() ==&gt; {</a:t>
            </a:r>
            <a:br/>
            <a:r>
              <a:t>      self@.len() == old(self)@.len() + 1</a:t>
            </a:r>
            <a:br/>
            <a:r>
              <a:t>      spec_contains(self@, value)</a:t>
            </a:r>
            <a:br/>
            <a:r>
              <a:t>      // ^^ Ord-equality only!</a:t>
            </a:r>
            <a:br/>
            <a:r>
              <a:t>    },</a:t>
            </a:r>
            <a:br/>
            <a:r>
              <a:t>    forall|v| old(self)@.contains(v)</a:t>
            </a:r>
            <a:br/>
            <a:r>
              <a:t>      &amp;&amp; !sv_eq(v, value)</a:t>
            </a:r>
            <a:br/>
            <a:r>
              <a:t>      ==&gt; self@.contains(v)</a:t>
            </a:r>
            <a:br/>
            <a:r>
              <a:t>      // ^^ frame uses structural 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 i="0">
                <a:solidFill>
                  <a:srgbClr val="007A6D"/>
                </a:solidFill>
              </a:defRPr>
            </a:pPr>
            <a:r>
              <a:t>Entailment Test (C4: remove)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3072384"/>
          </a:xfrm>
          <a:prstGeom prst="rect">
            <a:avLst/>
          </a:prstGeom>
          <a:solidFill>
            <a:srgbClr val="F5F5FA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754880" cy="288950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0">
                <a:solidFill>
                  <a:srgbClr val="333333"/>
                </a:solidFill>
                <a:latin typeface="Consolas"/>
              </a:defRPr>
            </a:pPr>
            <a:r>
              <a:t>proof fn phi_remove_not_pinned&lt;T: Ord&gt;(</a:t>
            </a:r>
            <a:br/>
            <a:r>
              <a:t>  pre: SortedVec&lt;T&gt;, post: SortedVec&lt;T&gt;,</a:t>
            </a:r>
            <a:br/>
            <a:r>
              <a:t>  value: T, result: Option&lt;T&gt;</a:t>
            </a:r>
            <a:br/>
            <a:r>
              <a:t>) // spec = remove ensures</a:t>
            </a:r>
            <a:br/>
            <a:r>
              <a:t>{</a:t>
            </a:r>
            <a:br/>
            <a:r>
              <a:t>  assume(pre@.len() == 3);</a:t>
            </a:r>
            <a:br/>
            <a:r>
              <a:t>  assume(sv_eq(pre@[1], value));</a:t>
            </a:r>
            <a:br/>
            <a:r>
              <a:t>  let fake: T;</a:t>
            </a:r>
            <a:br/>
            <a:r>
              <a:t>  assume(sv_eq(fake, value));</a:t>
            </a:r>
            <a:br/>
            <a:r>
              <a:t>  assume(!pre@.contains(fake));</a:t>
            </a:r>
            <a:br/>
            <a:r>
              <a:t>  assume(result == Some(fake));</a:t>
            </a:r>
            <a:br/>
            <a:r>
              <a:t>  // fabricated return value!</a:t>
            </a:r>
            <a:br/>
            <a:r>
              <a:t>  assume(post@.len() == 2);</a:t>
            </a:r>
            <a:br/>
            <a:r>
              <a:t>  assume(post@[0] == pre@[0]);</a:t>
            </a:r>
            <a:br/>
            <a:r>
              <a:t>  assume(post@[1] == pre@[2]);</a:t>
            </a:r>
            <a:br/>
            <a:r>
              <a:t>}</a:t>
            </a:r>
            <a:br/>
            <a:r>
              <a:t>// Verus: VERIFIED -&gt; gap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1">
                <a:solidFill>
                  <a:srgbClr val="007A6D"/>
                </a:solidFill>
              </a:defRPr>
            </a:pPr>
            <a:r>
              <a:t>remove returns fabricated value. Found by Gamma (adversarial verifier), missed by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 i="0">
                <a:solidFill>
                  <a:srgbClr val="007A6D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0" cy="18288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029200" cy="5029200"/>
          </a:xfrm>
          <a:prstGeom prst="rect">
            <a:avLst/>
          </a:prstGeom>
          <a:solidFill>
            <a:srgbClr val="F2F2F7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46634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07A6D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6344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Single-step analysis only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No multi-step interaction testing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e.g., alloc→dealloc→alloc sequences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Tested only on data structure modules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kheap (higher-level) found no new gaps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Need: protocol specs, state machines, concurrency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LLM brainstorm bias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Strongly favors error-driven gaps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(liveness: should-succeed-but-might-Err)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→ Underexplores frame, totality, type gaps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3543" y="1097280"/>
            <a:ext cx="5303520" cy="5029200"/>
          </a:xfrm>
          <a:prstGeom prst="rect">
            <a:avLst/>
          </a:prstGeom>
          <a:solidFill>
            <a:srgbClr val="F2F2F7"/>
          </a:solidFill>
          <a:ln w="19050">
            <a:solidFill>
              <a:srgbClr val="1E7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6423" y="1234439"/>
            <a:ext cx="4937759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007A6D"/>
                </a:solidFill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6423" y="1783080"/>
            <a:ext cx="4937759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Composition gap testing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  → Multi-step traces + loop invariants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Spec mutation testing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  → Delete conjuncts → check if verification passes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Caller-perspective testing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  → Write verified client code, find where it breaks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• Test abstraction-heavy modules</a:t>
            </a:r>
          </a:p>
          <a:p>
            <a:pPr lvl="1"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  → How to attack/test information hiding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 i="1">
                <a:solidFill>
                  <a:srgbClr val="007A6D"/>
                </a:solidFill>
              </a:defRPr>
            </a:pPr>
            <a:r>
              <a:t>Core approach is sound; main opportunity is expanding scope and attack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1525</Words>
  <Application>Microsoft Office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Tianyu Chen</cp:lastModifiedBy>
  <cp:revision>4</cp:revision>
  <dcterms:created xsi:type="dcterms:W3CDTF">2013-01-27T09:14:16Z</dcterms:created>
  <dcterms:modified xsi:type="dcterms:W3CDTF">2026-04-14T02:09:29Z</dcterms:modified>
  <cp:category/>
</cp:coreProperties>
</file>